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43" r:id="rId3"/>
    <p:sldId id="344" r:id="rId4"/>
    <p:sldId id="324" r:id="rId5"/>
    <p:sldId id="266" r:id="rId6"/>
    <p:sldId id="346" r:id="rId7"/>
    <p:sldId id="347" r:id="rId8"/>
    <p:sldId id="3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3452ED-1AF1-2365-1AC8-E9EF01413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EE1F9-FBF1-C78E-76C8-4A6F8A71A6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4B9D-938E-4E55-BCB2-41D36B9A8E84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8CF26-2379-9D13-7C1A-71D4563917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E5187-3E4E-9461-20DC-91893DCFB7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AE7A-7E3E-4738-AFB9-7991B6446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8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48D5-1B43-4D18-82B2-B3A66EF106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098D-EA97-4A70-9912-3FE9AFDFE5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D6C0-DD32-4DC8-B05C-E7963BAC8E4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510B-34B4-474C-AE80-98196578E8C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3D2F-2417-4288-A765-E366BA1D16A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E8AB-30C0-4464-82AA-6C8F5EA27FBB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3222D-7BF5-4413-A892-D97988CB8E87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E0DB-1B48-48EC-ACC3-7D771A4E2A0B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48F59-EF7D-40E5-8A5D-392B959FB913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49AC-A1C5-4DB9-B975-5747EFC49339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64D-3F51-46C9-A1BA-FEE871EE080B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D770A-C006-4BB9-B3C3-9A0239EEF8B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4C94-5DAC-44BD-825C-15C6E1DA254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2149-1560-4C77-84A9-65E3FB36E82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jl.clarivate.com/hom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s://resmd.kku.ac.th/web/files/JCR/JCR-2024%20(for%202025).xls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ibrresearch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tes.google.com/site/vipinsclassro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jl.clarivate.com/search-result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ansa.20200017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2;p16">
            <a:extLst>
              <a:ext uri="{FF2B5EF4-FFF2-40B4-BE49-F238E27FC236}">
                <a16:creationId xmlns:a16="http://schemas.microsoft.com/office/drawing/2014/main" id="{2622D706-7208-F1A4-0576-166AB3182EB9}"/>
              </a:ext>
            </a:extLst>
          </p:cNvPr>
          <p:cNvSpPr txBox="1">
            <a:spLocks/>
          </p:cNvSpPr>
          <p:nvPr/>
        </p:nvSpPr>
        <p:spPr>
          <a:xfrm>
            <a:off x="3442291" y="742671"/>
            <a:ext cx="8138964" cy="359606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US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 Name: </a:t>
            </a:r>
            <a:r>
              <a:rPr lang="en-US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 Umesh Kumar                       </a:t>
            </a: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 of Birth: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</a:t>
            </a:r>
            <a:r>
              <a:rPr lang="en-IN" sz="1800" b="1" baseline="30000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Feb 1991</a:t>
            </a:r>
            <a:endParaRPr lang="en-US" sz="1800" b="1" dirty="0">
              <a:solidFill>
                <a:srgbClr val="0000CC"/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US" sz="1800" b="1" dirty="0">
                <a:latin typeface="Arial Rounded MT Bold" panose="020F0704030504030204" pitchFamily="34" charset="0"/>
              </a:rPr>
              <a:t>Applying for Position:</a:t>
            </a:r>
            <a:r>
              <a:rPr lang="en-US" sz="1800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800" b="1" dirty="0">
                <a:solidFill>
                  <a:srgbClr val="0000CC"/>
                </a:solidFill>
                <a:latin typeface="Arial Rounded MT Bold" panose="020F0704030504030204" pitchFamily="34" charset="0"/>
              </a:rPr>
              <a:t>Assistant Professor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 Designation: </a:t>
            </a:r>
            <a:r>
              <a:rPr lang="en-US" sz="1800" b="1" dirty="0">
                <a:solidFill>
                  <a:srgbClr val="0000CC"/>
                </a:solidFill>
                <a:latin typeface="Arial Rounded MT Bold" panose="020F0704030504030204" pitchFamily="34" charset="0"/>
              </a:rPr>
              <a:t>Assistant Professor</a:t>
            </a:r>
            <a:endParaRPr lang="en-IN" sz="1800" b="1" dirty="0">
              <a:solidFill>
                <a:srgbClr val="0000CC"/>
              </a:solidFill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Currently Working at: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Niranjan Singh PG College, Unnao, UP, India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Permanent Address City: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Lucknow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Permanent Address State: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Uttar- Pradesh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 err="1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Linkedin</a:t>
            </a: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Profile Link: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www.linkedin.com/in/dr-umesh-kumar-47958077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can teach Programming Language(s) 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Biological Sciences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Email: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Kumarumesh022@gmail.com                                                   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sz="1800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 Number:  </a:t>
            </a:r>
            <a:r>
              <a:rPr lang="en-IN" sz="1800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+91 9517396699</a:t>
            </a:r>
            <a:endParaRPr lang="en-IN" sz="1800" b="1" dirty="0">
              <a:solidFill>
                <a:srgbClr val="0000CC"/>
              </a:solidFill>
              <a:effectLst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5622F9-9C34-9BDA-AF59-E09CCBDB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B75C3-13B0-8F29-EF7E-4ACFF578AFF6}"/>
              </a:ext>
            </a:extLst>
          </p:cNvPr>
          <p:cNvSpPr txBox="1"/>
          <p:nvPr/>
        </p:nvSpPr>
        <p:spPr>
          <a:xfrm>
            <a:off x="166585" y="965955"/>
            <a:ext cx="2467758" cy="25853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Paste Your passport Size Image Here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BEF30-B9AC-B692-80EA-83181C3F15D7}"/>
              </a:ext>
            </a:extLst>
          </p:cNvPr>
          <p:cNvSpPr txBox="1"/>
          <p:nvPr/>
        </p:nvSpPr>
        <p:spPr>
          <a:xfrm>
            <a:off x="414670" y="170121"/>
            <a:ext cx="60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Faculty Hiring</a:t>
            </a:r>
            <a:r>
              <a:rPr lang="en-US" sz="1800" b="1" dirty="0">
                <a:solidFill>
                  <a:schemeClr val="bg1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Interview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59A02-3172-C71C-F076-2AFCFCF99FC5}"/>
              </a:ext>
            </a:extLst>
          </p:cNvPr>
          <p:cNvSpPr txBox="1"/>
          <p:nvPr/>
        </p:nvSpPr>
        <p:spPr>
          <a:xfrm>
            <a:off x="0" y="4241899"/>
            <a:ext cx="1197756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2270760" algn="l"/>
              </a:tabLst>
            </a:pP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Scopus Profile Link with ID: </a:t>
            </a:r>
            <a:r>
              <a:rPr lang="en-IN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https://www.webofscience.com/wos/author/record/ABD-9355-2020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</a:t>
            </a:r>
          </a:p>
          <a:p>
            <a:pPr>
              <a:spcAft>
                <a:spcPts val="600"/>
              </a:spcAft>
              <a:tabLst>
                <a:tab pos="2270760" algn="l"/>
              </a:tabLst>
            </a:pP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Scopus Citations: </a:t>
            </a:r>
            <a:r>
              <a:rPr lang="en-IN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834, Google Scholar Citations: 1112</a:t>
            </a:r>
            <a:endParaRPr lang="en-IN" b="1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of Documents in Scopus Profile: </a:t>
            </a:r>
            <a:r>
              <a:rPr lang="en-IN" b="1" dirty="0">
                <a:solidFill>
                  <a:srgbClr val="0000CC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47 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tabLst>
                <a:tab pos="2270760" algn="l"/>
              </a:tabLst>
            </a:pP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SCI/SCIE/SSCI Papers as per JCR Archiving at 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https://mjl.clarivate.com/home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(Don't include ESCI)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38 </a:t>
            </a:r>
          </a:p>
          <a:p>
            <a:pPr fontAlgn="ctr"/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Q1 SCIE/SSCI/AHCI as per JCR Quartile </a:t>
            </a:r>
            <a:r>
              <a:rPr lang="en-IN" b="1" dirty="0">
                <a:latin typeface="Arial Rounded MT Bold" panose="020F0704030504030204" pitchFamily="34" charset="0"/>
              </a:rPr>
              <a:t>file link </a:t>
            </a:r>
            <a:r>
              <a:rPr lang="en-GB" b="1" u="sng" dirty="0">
                <a:latin typeface="Arial Rounded MT Bold" panose="020F0704030504030204" pitchFamily="34" charset="0"/>
                <a:hlinkClick r:id="rId4"/>
              </a:rPr>
              <a:t>JCR 2025 File for 2024 Ranks</a:t>
            </a:r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22</a:t>
            </a:r>
          </a:p>
          <a:p>
            <a:pPr fontAlgn="ctr"/>
            <a:r>
              <a:rPr lang="en-IN" b="1" dirty="0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papers in Top 10 percentile SCIE/SSCI/AHCI as per JCR</a:t>
            </a:r>
            <a:r>
              <a:rPr lang="en-IN" b="1" dirty="0">
                <a:latin typeface="Arial Rounded MT Bold" panose="020F0704030504030204" pitchFamily="34" charset="0"/>
              </a:rPr>
              <a:t> link </a:t>
            </a:r>
            <a:r>
              <a:rPr lang="en-GB" b="1" u="sng" dirty="0">
                <a:latin typeface="Arial Rounded MT Bold" panose="020F0704030504030204" pitchFamily="34" charset="0"/>
                <a:hlinkClick r:id="rId4"/>
              </a:rPr>
              <a:t>JCR 2025 File for 2024 Ranks</a:t>
            </a:r>
            <a:r>
              <a:rPr lang="en-IN" b="1"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12</a:t>
            </a:r>
            <a:endParaRPr lang="en-IN" b="1" dirty="0"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 Rounded MT Bold" panose="020F0704030504030204" pitchFamily="34" charset="0"/>
              </a:rPr>
              <a:t>No of Patents Granted:  0                                               </a:t>
            </a:r>
          </a:p>
          <a:p>
            <a:r>
              <a:rPr lang="en-GB" dirty="0">
                <a:latin typeface="Arial Rounded MT Bold" panose="020F0704030504030204" pitchFamily="34" charset="0"/>
              </a:rPr>
              <a:t>No of Patents Published: 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ED4E9-E7EE-4CB6-18C0-8F1790295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83" y="965955"/>
            <a:ext cx="2467759" cy="2579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1CFB3-8D11-961A-1EA4-8F67982B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36E8B-1422-B554-4FBA-D03D4FBD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75113-FE18-E34B-94DD-016C26BBFCEF}"/>
              </a:ext>
            </a:extLst>
          </p:cNvPr>
          <p:cNvSpPr txBox="1"/>
          <p:nvPr/>
        </p:nvSpPr>
        <p:spPr>
          <a:xfrm>
            <a:off x="47848" y="93361"/>
            <a:ext cx="8048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Academic background (Don’t use  Extra Slide)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5E06-3414-E6EB-E55E-8A635E969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79163"/>
              </p:ext>
            </p:extLst>
          </p:nvPr>
        </p:nvGraphicFramePr>
        <p:xfrm>
          <a:off x="0" y="829666"/>
          <a:ext cx="1212842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424">
                  <a:extLst>
                    <a:ext uri="{9D8B030D-6E8A-4147-A177-3AD203B41FA5}">
                      <a16:colId xmlns:a16="http://schemas.microsoft.com/office/drawing/2014/main" val="667600871"/>
                    </a:ext>
                  </a:extLst>
                </a:gridCol>
                <a:gridCol w="3023119">
                  <a:extLst>
                    <a:ext uri="{9D8B030D-6E8A-4147-A177-3AD203B41FA5}">
                      <a16:colId xmlns:a16="http://schemas.microsoft.com/office/drawing/2014/main" val="4046055235"/>
                    </a:ext>
                  </a:extLst>
                </a:gridCol>
                <a:gridCol w="4879910">
                  <a:extLst>
                    <a:ext uri="{9D8B030D-6E8A-4147-A177-3AD203B41FA5}">
                      <a16:colId xmlns:a16="http://schemas.microsoft.com/office/drawing/2014/main" val="1185872733"/>
                    </a:ext>
                  </a:extLst>
                </a:gridCol>
                <a:gridCol w="960376">
                  <a:extLst>
                    <a:ext uri="{9D8B030D-6E8A-4147-A177-3AD203B41FA5}">
                      <a16:colId xmlns:a16="http://schemas.microsoft.com/office/drawing/2014/main" val="1266722702"/>
                    </a:ext>
                  </a:extLst>
                </a:gridCol>
                <a:gridCol w="2434593">
                  <a:extLst>
                    <a:ext uri="{9D8B030D-6E8A-4147-A177-3AD203B41FA5}">
                      <a16:colId xmlns:a16="http://schemas.microsoft.com/office/drawing/2014/main" val="296768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S. no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Degree &amp; Specialization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University/Board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Marks (% or CGPA)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31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10th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CBSE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77.8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97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IN" sz="1800" baseline="30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th /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Diploma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CBSE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68.2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82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BSc (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Zoo.,Chem.,Bot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MJP Rohilkhand University, UP,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88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MSc (Zoology)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Babasaheb Bhimrao Ambedkar University (Central University), Lucknow,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67.5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2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PhD (Metabolomics &amp; Biomarker discovery)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Babasaheb Bhimrao Ambedkar University (Central University), Lucknow,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96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Post Doc 1 (Research Associate-III)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NATIONAL BUREAU OF ANIMAL GENETIC RESOURCES,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Karnal, India </a:t>
                      </a:r>
                      <a:endParaRPr lang="en-IN" sz="18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15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4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Post Doc 2 (Postdoctoral Researcher)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Innsbruck University, Innsbruck, Austria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14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622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050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9AE5C-E014-B675-6501-368D868C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515127-A733-F848-FA1D-96F3796C4130}"/>
              </a:ext>
            </a:extLst>
          </p:cNvPr>
          <p:cNvSpPr txBox="1"/>
          <p:nvPr/>
        </p:nvSpPr>
        <p:spPr>
          <a:xfrm>
            <a:off x="47848" y="93361"/>
            <a:ext cx="8048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Experience (Don’t use  Extra Slide)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97AAB2-B00C-3BA9-BD87-AEA13C88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245197"/>
              </p:ext>
            </p:extLst>
          </p:nvPr>
        </p:nvGraphicFramePr>
        <p:xfrm>
          <a:off x="0" y="814982"/>
          <a:ext cx="1213964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257">
                  <a:extLst>
                    <a:ext uri="{9D8B030D-6E8A-4147-A177-3AD203B41FA5}">
                      <a16:colId xmlns:a16="http://schemas.microsoft.com/office/drawing/2014/main" val="667600871"/>
                    </a:ext>
                  </a:extLst>
                </a:gridCol>
                <a:gridCol w="3097567">
                  <a:extLst>
                    <a:ext uri="{9D8B030D-6E8A-4147-A177-3AD203B41FA5}">
                      <a16:colId xmlns:a16="http://schemas.microsoft.com/office/drawing/2014/main" val="4046055235"/>
                    </a:ext>
                  </a:extLst>
                </a:gridCol>
                <a:gridCol w="2677886">
                  <a:extLst>
                    <a:ext uri="{9D8B030D-6E8A-4147-A177-3AD203B41FA5}">
                      <a16:colId xmlns:a16="http://schemas.microsoft.com/office/drawing/2014/main" val="1185872733"/>
                    </a:ext>
                  </a:extLst>
                </a:gridCol>
                <a:gridCol w="1343608">
                  <a:extLst>
                    <a:ext uri="{9D8B030D-6E8A-4147-A177-3AD203B41FA5}">
                      <a16:colId xmlns:a16="http://schemas.microsoft.com/office/drawing/2014/main" val="1266722702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356902066"/>
                    </a:ext>
                  </a:extLst>
                </a:gridCol>
                <a:gridCol w="1194319">
                  <a:extLst>
                    <a:ext uri="{9D8B030D-6E8A-4147-A177-3AD203B41FA5}">
                      <a16:colId xmlns:a16="http://schemas.microsoft.com/office/drawing/2014/main" val="4087435253"/>
                    </a:ext>
                  </a:extLst>
                </a:gridCol>
                <a:gridCol w="1782662">
                  <a:extLst>
                    <a:ext uri="{9D8B030D-6E8A-4147-A177-3AD203B41FA5}">
                      <a16:colId xmlns:a16="http://schemas.microsoft.com/office/drawing/2014/main" val="296768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S. no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Institution/Industry (Start with latest)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Designation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Start (mm/yy)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End (mm/yy)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Duration in Months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Salary Gross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31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Bareilly College Bareilly, UP,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Project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05/2014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07/2015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Rs 16000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97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NATIONAL BUREAU OF ANIMAL GENETIC RESOURCES,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Karnal, India </a:t>
                      </a:r>
                      <a:endParaRPr lang="en-IN" sz="18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Research Associate-III</a:t>
                      </a:r>
                      <a:endParaRPr lang="en-IN" sz="18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01/2022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03/2023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Rs 58000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82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University of Innsbruck, Innsbruck, Austria</a:t>
                      </a:r>
                    </a:p>
                    <a:p>
                      <a:pPr algn="l"/>
                      <a:endParaRPr lang="en-IN" sz="1800" dirty="0">
                        <a:solidFill>
                          <a:schemeClr val="accent2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Postdoctoral 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05/2023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06/2024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€4700/Month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88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Niranjan Singh PG College, Unnao, UP,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Assistant Professor</a:t>
                      </a:r>
                    </a:p>
                    <a:p>
                      <a:pPr algn="l"/>
                      <a:endParaRPr lang="en-IN" sz="1800" dirty="0">
                        <a:solidFill>
                          <a:schemeClr val="accent2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01/09/2024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accent2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Rs 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2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accent2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Total Experience Teaching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554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accent2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Total Experience Industry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>
                        <a:solidFill>
                          <a:schemeClr val="accent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cs typeface="Arial" panose="020B0604020202020204" pitchFamily="34" charset="0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50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48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E830C-C5FD-738C-C654-8B4B681E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DC4FF-7BBD-9931-35C4-1DD7DF7D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FD84D-8844-3FBA-74F2-90E7F100A07A}"/>
              </a:ext>
            </a:extLst>
          </p:cNvPr>
          <p:cNvSpPr txBox="1"/>
          <p:nvPr/>
        </p:nvSpPr>
        <p:spPr>
          <a:xfrm>
            <a:off x="148280" y="118074"/>
            <a:ext cx="6069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Research and Learning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5E6B1E-A3EB-BD2A-4DC1-E73019ECD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15419"/>
              </p:ext>
            </p:extLst>
          </p:nvPr>
        </p:nvGraphicFramePr>
        <p:xfrm>
          <a:off x="0" y="1152403"/>
          <a:ext cx="122174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687">
                  <a:extLst>
                    <a:ext uri="{9D8B030D-6E8A-4147-A177-3AD203B41FA5}">
                      <a16:colId xmlns:a16="http://schemas.microsoft.com/office/drawing/2014/main" val="827740587"/>
                    </a:ext>
                  </a:extLst>
                </a:gridCol>
                <a:gridCol w="5707438">
                  <a:extLst>
                    <a:ext uri="{9D8B030D-6E8A-4147-A177-3AD203B41FA5}">
                      <a16:colId xmlns:a16="http://schemas.microsoft.com/office/drawing/2014/main" val="2114655910"/>
                    </a:ext>
                  </a:extLst>
                </a:gridCol>
                <a:gridCol w="6117300">
                  <a:extLst>
                    <a:ext uri="{9D8B030D-6E8A-4147-A177-3AD203B41FA5}">
                      <a16:colId xmlns:a16="http://schemas.microsoft.com/office/drawing/2014/main" val="1656576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Link/ Industry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564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Analytical Trainee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FareLabs</a:t>
                      </a:r>
                      <a:r>
                        <a:rPr lang="en-GB" sz="18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Pvt Ltd, Gurugram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89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TIBR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TIBR Biotech Private Limited</a:t>
                      </a:r>
                      <a:endParaRPr lang="en-GB" sz="18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78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Dr Vipin’s Classroom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Dr. Vipin's Classroom</a:t>
                      </a:r>
                      <a:endParaRPr lang="en-GB" sz="18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9515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58BCCE-A906-9B03-2B65-759E0886056D}"/>
              </a:ext>
            </a:extLst>
          </p:cNvPr>
          <p:cNvSpPr txBox="1"/>
          <p:nvPr/>
        </p:nvSpPr>
        <p:spPr>
          <a:xfrm>
            <a:off x="69111" y="817193"/>
            <a:ext cx="1191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Rounded MT Bold" panose="020F0704030504030204" pitchFamily="34" charset="0"/>
              </a:rPr>
              <a:t>Any Industry Certification/  You Tube Videos/ Online Courses created  for students (Not more than 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9AD318-15B9-74F2-A970-023D02D10ECF}"/>
              </a:ext>
            </a:extLst>
          </p:cNvPr>
          <p:cNvSpPr txBox="1"/>
          <p:nvPr/>
        </p:nvSpPr>
        <p:spPr>
          <a:xfrm>
            <a:off x="-12712" y="3902893"/>
            <a:ext cx="12242848" cy="147732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rial Rounded MT Bold" panose="020F0704030504030204" pitchFamily="34" charset="0"/>
              </a:rPr>
              <a:t>I have </a:t>
            </a:r>
            <a:r>
              <a:rPr lang="en-GB" b="1" dirty="0">
                <a:latin typeface="Arial Rounded MT Bold" panose="020F0704030504030204" pitchFamily="34" charset="0"/>
              </a:rPr>
              <a:t>hands on knowledge of labs </a:t>
            </a:r>
            <a:r>
              <a:rPr lang="en-GB" dirty="0">
                <a:latin typeface="Arial Rounded MT Bold" panose="020F0704030504030204" pitchFamily="34" charset="0"/>
              </a:rPr>
              <a:t>and I can teach the following courses to UG Students with strong focus on lab work as per latest Industry standards: (Don’t write if you have only theoretical knowledge). 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Nuclear Magnetic Resonance Spectroscopy (1D/2D), LC-MS/MS, GC-MS/MS, HPLC, SEM, FTIR, All Centrifugations,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Lyophilizations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Animal Handling, cell culture.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 . All kind of biofluids preparation for analytical instruments, Multivariate statistical analysis tools etc.                   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064481-912A-50E8-90DC-508D685ED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644771"/>
              </p:ext>
            </p:extLst>
          </p:nvPr>
        </p:nvGraphicFramePr>
        <p:xfrm>
          <a:off x="1" y="3096586"/>
          <a:ext cx="1221742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451">
                  <a:extLst>
                    <a:ext uri="{9D8B030D-6E8A-4147-A177-3AD203B41FA5}">
                      <a16:colId xmlns:a16="http://schemas.microsoft.com/office/drawing/2014/main" val="827740587"/>
                    </a:ext>
                  </a:extLst>
                </a:gridCol>
                <a:gridCol w="5715673">
                  <a:extLst>
                    <a:ext uri="{9D8B030D-6E8A-4147-A177-3AD203B41FA5}">
                      <a16:colId xmlns:a16="http://schemas.microsoft.com/office/drawing/2014/main" val="2114655910"/>
                    </a:ext>
                  </a:extLst>
                </a:gridCol>
                <a:gridCol w="6117300">
                  <a:extLst>
                    <a:ext uri="{9D8B030D-6E8A-4147-A177-3AD203B41FA5}">
                      <a16:colId xmlns:a16="http://schemas.microsoft.com/office/drawing/2014/main" val="1656576866"/>
                    </a:ext>
                  </a:extLst>
                </a:gridCol>
              </a:tblGrid>
              <a:tr h="196412">
                <a:tc>
                  <a:txBody>
                    <a:bodyPr/>
                    <a:lstStyle/>
                    <a:p>
                      <a:endParaRPr lang="en-GB" sz="1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Granting Agency and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564481"/>
                  </a:ext>
                </a:extLst>
              </a:tr>
              <a:tr h="199140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8957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08E190C-A6BC-CE2B-99AA-7D53EC4AD8D3}"/>
              </a:ext>
            </a:extLst>
          </p:cNvPr>
          <p:cNvSpPr txBox="1"/>
          <p:nvPr/>
        </p:nvSpPr>
        <p:spPr>
          <a:xfrm>
            <a:off x="290326" y="2777895"/>
            <a:ext cx="9805288" cy="2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Rounded MT Bold" panose="020F0704030504030204" pitchFamily="34" charset="0"/>
              </a:rPr>
              <a:t>Research Grants (Only include Project Research Grants)  (Not more than 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CEAF0-1865-8464-BEDF-C04287FEF3CB}"/>
              </a:ext>
            </a:extLst>
          </p:cNvPr>
          <p:cNvSpPr txBox="1"/>
          <p:nvPr/>
        </p:nvSpPr>
        <p:spPr>
          <a:xfrm>
            <a:off x="-82873" y="5705597"/>
            <a:ext cx="12217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Why I am the Right Candidate for this position in SRU. Give top 1 highlight of your credential or  personality.</a:t>
            </a:r>
          </a:p>
          <a:p>
            <a:r>
              <a:rPr lang="en-US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1.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 bring a strong research profile with over 50 international peer-reviewed publications (H-index &gt;20) combined with a sincere commitment to quality teaching and mentoring.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522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94352-8F3E-9955-B8D7-48EAF934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F1E45-F70B-632F-4E91-FFAF0C54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F7F384A4-150D-100C-3009-EFB0C8A90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403527"/>
              </p:ext>
            </p:extLst>
          </p:nvPr>
        </p:nvGraphicFramePr>
        <p:xfrm>
          <a:off x="0" y="611470"/>
          <a:ext cx="12192001" cy="61584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7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936702123"/>
                    </a:ext>
                  </a:extLst>
                </a:gridCol>
                <a:gridCol w="1861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1457">
                  <a:extLst>
                    <a:ext uri="{9D8B030D-6E8A-4147-A177-3AD203B41FA5}">
                      <a16:colId xmlns:a16="http://schemas.microsoft.com/office/drawing/2014/main" val="283514411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1144304571"/>
                    </a:ext>
                  </a:extLst>
                </a:gridCol>
                <a:gridCol w="749559">
                  <a:extLst>
                    <a:ext uri="{9D8B030D-6E8A-4147-A177-3AD203B41FA5}">
                      <a16:colId xmlns:a16="http://schemas.microsoft.com/office/drawing/2014/main" val="3599761423"/>
                    </a:ext>
                  </a:extLst>
                </a:gridCol>
                <a:gridCol w="622042">
                  <a:extLst>
                    <a:ext uri="{9D8B030D-6E8A-4147-A177-3AD203B41FA5}">
                      <a16:colId xmlns:a16="http://schemas.microsoft.com/office/drawing/2014/main" val="3147292373"/>
                    </a:ext>
                  </a:extLst>
                </a:gridCol>
              </a:tblGrid>
              <a:tr h="127338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Sl. </a:t>
                      </a:r>
                      <a:endParaRPr lang="en-IN" sz="1100" dirty="0">
                        <a:solidFill>
                          <a:srgbClr val="00B05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Title of paper (In the Order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SCI/SSCI/AHCI Top 10 percentile/Q1,Q2/Q3/Q4,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Scopus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Name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Author names, DOI </a:t>
                      </a:r>
                      <a:endParaRPr lang="en-IN" sz="11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u="none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Is this journal available in this link in (SCI,AHCI, SSCI)</a:t>
                      </a:r>
                      <a:endParaRPr lang="en-IN" sz="1100" u="none" dirty="0">
                        <a:solidFill>
                          <a:srgbClr val="00B05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hlinkClick r:id="rId3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hlinkClick r:id="rId3"/>
                        </a:rPr>
                        <a:t>https://mjl.clarivate.com/search-results</a:t>
                      </a: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(Yes/No) Don’t include ESCI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Impact Factor as per file link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 u="sng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" action="ppaction://noaction"/>
                        </a:rPr>
                        <a:t>JCR 2025 File for 2024 Ranks</a:t>
                      </a:r>
                      <a:endParaRPr lang="en-IN" sz="1100" dirty="0">
                        <a:solidFill>
                          <a:srgbClr val="00B05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Percentile as per file link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u="sng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" action="ppaction://noaction"/>
                        </a:rPr>
                        <a:t>JCR 2025 File for 2024 Ranks</a:t>
                      </a:r>
                      <a:endParaRPr lang="en-IN" sz="1100" dirty="0">
                        <a:solidFill>
                          <a:srgbClr val="00B05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solidFill>
                          <a:srgbClr val="00B05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rgbClr val="00B05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Author Position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1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Characterization of metabolite profiles in milk derived exosomes from indicus, crossbred and taurine cows by proton nuclear magnetic resonance analysis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Food Chemistry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10.1016/J.FOODCHEM.2025.143015</a:t>
                      </a:r>
                      <a:endParaRPr lang="en-IN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9.8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3.57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100" b="1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Characterizing metabolome signature of colostrum, transition and mature milk of indigenous cows (Bos indicus) adapted to high altitude environment of Leh-Ladakh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Food Chemistry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10.1016/J.FOODCHEM.2024.141767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9.8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3.57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Silk fibroin hydrogel: A novel biopolymer for sustained release of vancomycin drug for diabetic wound healing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 of Molecular Structure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10.1016/J.MOLSTRUC.2023.135548</a:t>
                      </a:r>
                      <a:endParaRPr lang="en-IN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36.76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Vinpocetine mitigates DMH-induce pre-neoplastic colon damage in rats through inhibition of pro-inflammatory cytokines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International immunopharmacology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10.1016/j.intimp.2023.110236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15.34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Association of altered metabolic profiles and long non-coding RNAs expression with disease severity in breast cancer patients: analysis by 1H NMR spectroscopy and RT-q-PCR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Metabolomics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10.1007/s11306-023-01972-5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41.88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5759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Acute pancreatitis is characterized by generalized intestinal barrier dysfunction in early stage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Pancreatology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10.1016/j.pan.2022.11.011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41.50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68383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Response Guided Slow Infusion of Albumin, Vasoconstrictors and Furosemide Improves Ascites Mobilization and Survival in Acute on Chronic Liver Failure: A Proof-of-Concept Study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 of Inflammation Research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10.2147/jir.s377494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33.88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2139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Assessment of hyaluronic acid-modified imatinib mesylate </a:t>
                      </a:r>
                      <a:r>
                        <a:rPr lang="en-US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cubosomes</a:t>
                      </a: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through CD44 targeted drug delivery in NDEA-induced hepatic carcinoma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International Journal of Pharmaceutics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10.1016/j.ijpharm.2022.121848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12.22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40516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Mechanistic exploration of the activities of poly(lactic-co-glycolic acid)-loaded nanoparticles of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betulinic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acid against hepatocellular carcinoma at cellular and molecular levels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Archives of Physiology and Biochemistry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10.1080/13813455.2020.1733024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36.78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0000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7FFA9B4C-C4F6-90B7-1EDC-21E88B887286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8208336" cy="611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en-US" sz="1800" b="1" dirty="0">
                <a:solidFill>
                  <a:srgbClr val="FFFF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write All Publications in the order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SCI/SSCI/AHCI Top 10 percentile/Q1,Q2/Q3/Q4, Scopus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0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C11CC-9646-9198-B305-EB54B55F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06E81F5-6E85-783B-1713-8A116C6FA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348012"/>
              </p:ext>
            </p:extLst>
          </p:nvPr>
        </p:nvGraphicFramePr>
        <p:xfrm>
          <a:off x="0" y="718049"/>
          <a:ext cx="12192001" cy="613995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7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93670212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835144110"/>
                    </a:ext>
                  </a:extLst>
                </a:gridCol>
                <a:gridCol w="772886">
                  <a:extLst>
                    <a:ext uri="{9D8B030D-6E8A-4147-A177-3AD203B41FA5}">
                      <a16:colId xmlns:a16="http://schemas.microsoft.com/office/drawing/2014/main" val="1144304571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3599761423"/>
                    </a:ext>
                  </a:extLst>
                </a:gridCol>
                <a:gridCol w="478972">
                  <a:extLst>
                    <a:ext uri="{9D8B030D-6E8A-4147-A177-3AD203B41FA5}">
                      <a16:colId xmlns:a16="http://schemas.microsoft.com/office/drawing/2014/main" val="3147292373"/>
                    </a:ext>
                  </a:extLst>
                </a:gridCol>
              </a:tblGrid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NMR‐based serum and muscle metabolomics for diagnosis and activity assessment in idiopathic inflammatory myopathies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Analytical Science Advances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i="0" u="sng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10.1002/ansa.202000171</a:t>
                      </a:r>
                      <a:endParaRPr lang="en-IN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566459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Targeted NMR‐based serum metabolic profiling of serine, glycine and methionine in acute‐on‐chronic liver failure patients: Possible insights into mitochondrial dysfunction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Analytical Science Advances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10.1002/ansa.202000167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200" b="1" dirty="0">
                        <a:solidFill>
                          <a:srgbClr val="0070C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brief overview about the use of different bioactive liposome-based drug delivery systems in Peritoneal Dialysis and some other diseases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Nano Express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10.1088/2632-959x/abfdd1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Circulatory histidine levels as predictive indicators of disease activity in </a:t>
                      </a:r>
                      <a:r>
                        <a:rPr lang="en-US" altLang="en-US" sz="1050" b="0" dirty="0" err="1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takayasu</a:t>
                      </a:r>
                      <a:r>
                        <a:rPr lang="en-US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arteritis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Analytical Science Advances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10.1002/ansa.202000181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66167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 elaborative NMR based plasma metabolomics study revealed metabolic derangements in patients with mild cognitive impairment: a study on north Indian population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Metabolic Brain Disease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10.1007/s11011-021-00700-z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34.71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Characterization, biological evaluation and molecular docking of mulberry fruit pectin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10.1038/s41598-020-78086-8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18.52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5759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Serum Metabolomics, Is It Different in </a:t>
                      </a:r>
                      <a:r>
                        <a:rPr lang="en-US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Clinico</a:t>
                      </a: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-Serological Clusters of Idiopathic Inflammatory Myositis?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Arthritis &amp; Rheumatology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WOS:000587568503092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6.90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68383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Serum Metabolic Disturbances Associated with Acute-on-chronic Liver Failure in Patients with Underlying Alcoholic Liver Diseases: An Elaborative NMR-based Metabolomics Study.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 of pharmacy &amp; </a:t>
                      </a:r>
                      <a:r>
                        <a:rPr lang="en-US" altLang="en-US" sz="1050" b="0" dirty="0" err="1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bioallied</a:t>
                      </a:r>
                      <a:r>
                        <a:rPr lang="en-US" altLang="en-US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sciences</a:t>
                      </a:r>
                      <a:endParaRPr lang="en-IN" altLang="en-US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10.4103/jpbs.jpbs_333_20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1050" b="0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2139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Mulberries: A Promising Fruit for Phytochemicals, Nutraceuticals, and Biological Activities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International Journal of Fruit Science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10.1080/15538362.2020.1784075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26.67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40516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MUSCLE METABOLOMICS IN INFLAMMATORY MYOSITIS- UNDERSTANDING CHANGES IN SERUM AS A REFLECTION OF THE MUSCLE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Annals of the Rheumatic Diseases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10.1136/annrheumdis-2020-eular.316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20.6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3.45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70902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Nuclear magnetic resonance–based targeted profiling of urinary acetate and citrate following cyclophosphamide therapy in patients with lupus nephritis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Lupus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i="0" u="non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0.1177/0961203320918011</a:t>
                      </a:r>
                      <a:endParaRPr lang="en-IN" sz="1050" b="0" u="none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62.07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000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Circulatory Glutamine/Glucose ratio for evaluating disease activity in Takayasu arteritis: A NMR based serum metabolomics study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 of Pharmaceutical and Biomedical Analysis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10.1016/j.jpba.2019.113080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38.07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9552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A0976AD2-FD46-637F-6BFA-ED64FBAB3610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8208336" cy="611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en-US" sz="1800" b="1" dirty="0">
                <a:solidFill>
                  <a:srgbClr val="FFFF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write All Publications in the order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SCI/SSCI/AHCI Top 10 percentile/Q1,Q2/Q3/Q4, Scopus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3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1AD13-0870-C9C0-83EC-8D941798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BFD6-C130-BBF5-0B03-FDC8ADFD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4B96E888-7958-BEFE-46B3-A620B1CAC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786794"/>
              </p:ext>
            </p:extLst>
          </p:nvPr>
        </p:nvGraphicFramePr>
        <p:xfrm>
          <a:off x="0" y="874828"/>
          <a:ext cx="12192001" cy="510834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7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936702123"/>
                    </a:ext>
                  </a:extLst>
                </a:gridCol>
                <a:gridCol w="2645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257">
                  <a:extLst>
                    <a:ext uri="{9D8B030D-6E8A-4147-A177-3AD203B41FA5}">
                      <a16:colId xmlns:a16="http://schemas.microsoft.com/office/drawing/2014/main" val="2835144110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1144304571"/>
                    </a:ext>
                  </a:extLst>
                </a:gridCol>
                <a:gridCol w="703392">
                  <a:extLst>
                    <a:ext uri="{9D8B030D-6E8A-4147-A177-3AD203B41FA5}">
                      <a16:colId xmlns:a16="http://schemas.microsoft.com/office/drawing/2014/main" val="3599761423"/>
                    </a:ext>
                  </a:extLst>
                </a:gridCol>
                <a:gridCol w="700866">
                  <a:extLst>
                    <a:ext uri="{9D8B030D-6E8A-4147-A177-3AD203B41FA5}">
                      <a16:colId xmlns:a16="http://schemas.microsoft.com/office/drawing/2014/main" val="3147292373"/>
                    </a:ext>
                  </a:extLst>
                </a:gridCol>
              </a:tblGrid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5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Antineoplastic properties of zafirlukast against hepatocellular carcinoma via activation of mitochondrial mediated apoptosis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05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Regulatory Toxicology and Pharmacology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10.1016/j.yrtph.2019.104489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4.55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IN" sz="1200" b="1" dirty="0">
                        <a:solidFill>
                          <a:srgbClr val="0070C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0" i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NMR Spectroscopy Reveals Alterations of Urinary Acetate and Citrate Levels Following Cyclophosphamide Therapy in Patients with Lupus Nephritis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Arthritis &amp; Rheumatology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WOS:000507466903391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6.90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Serum, Urine and Muscle Metabolomics in Inflammatory Myositis for Diagnosis and Activity Assessment: Serum Metabolomics Can Differentiate Active from Inactive Myositis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Arthritis &amp; Rheumatology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WOS:000507466903215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6.90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Zolmitriptan attenuates hepatocellular carcinoma via activation of caspase mediated apoptosis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Chemico</a:t>
                      </a: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-Biological Interactions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10.1016/j.cbi.2019.05.033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5.4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10.80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 Spectroscopy Reveals Alterations Of Urinary Acetate And Citrate Levels Following Cyclophosphamide Therapy In Patients With Lupus Nephritis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Annals of the Rheumatic Diseases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10.1136/annrheumdis-2019-eular.6067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20.6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3.45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5759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Novel 1,3,4-thiadiazoles inhibit colorectal cancer via blockade of IL-6/COX-2 mediated JAK2/STAT3 signals as evidenced through data-based mathematical modeling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Cytokine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10.1016/j.cyto.2018.03.026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38.87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68383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 Based Metabolomics: An Exquisite and Facile Method for Evaluating Therapeutic Efficacy and Screening Drug Toxicity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Current Topics in Medicinal Chemistry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10.2174/1568026619666181120141603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52.78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2139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Special Issue: 20th Asia Pacific League of Associations for Rheumatology Congress (APLAR), 6-9 September 2018, Kaohsiung, Taiwan Abstracts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International Journal of Rheumatic Diseases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10.1111/1756-185X.13360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60.34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40516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Discovery of Novel 2-Amino-5-(Substituted)-1,3,4-Thiadiazole Derivatives: New Utilities for Colon Cancer Treatment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Anti-Cancer Agents in Medicinal Chemistry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10.2174/1871520617666170419122916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44.17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000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Novel 1,4-benzothazines obliterate COX-2 mediated JAK-2/STAT-3 signals with potential regulation of oxidative and metabolic stress during colorectal cancer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Pharmacological Research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10.1016/j.phrs.2017.12.010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3.69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9552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867A9590-5D7F-FD45-F701-A3B4CC5A0B95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8208336" cy="611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en-US" sz="1800" b="1" dirty="0">
                <a:solidFill>
                  <a:srgbClr val="FFFF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write All Publications in the order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SCI/SSCI/AHCI Top 10 percentile/Q1,Q2/Q3/Q4, Scopus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3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C1459-725E-C60B-D4CD-6CC7965BC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DD66E-7B30-F87B-CE62-5F559F80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DDB165A3-B8EF-212F-8F59-D789AA2B8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6281"/>
              </p:ext>
            </p:extLst>
          </p:nvPr>
        </p:nvGraphicFramePr>
        <p:xfrm>
          <a:off x="-1" y="818297"/>
          <a:ext cx="12115798" cy="499821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5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936702123"/>
                    </a:ext>
                  </a:extLst>
                </a:gridCol>
                <a:gridCol w="2282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220">
                  <a:extLst>
                    <a:ext uri="{9D8B030D-6E8A-4147-A177-3AD203B41FA5}">
                      <a16:colId xmlns:a16="http://schemas.microsoft.com/office/drawing/2014/main" val="2835144110"/>
                    </a:ext>
                  </a:extLst>
                </a:gridCol>
                <a:gridCol w="573337">
                  <a:extLst>
                    <a:ext uri="{9D8B030D-6E8A-4147-A177-3AD203B41FA5}">
                      <a16:colId xmlns:a16="http://schemas.microsoft.com/office/drawing/2014/main" val="1144304571"/>
                    </a:ext>
                  </a:extLst>
                </a:gridCol>
                <a:gridCol w="811326">
                  <a:extLst>
                    <a:ext uri="{9D8B030D-6E8A-4147-A177-3AD203B41FA5}">
                      <a16:colId xmlns:a16="http://schemas.microsoft.com/office/drawing/2014/main" val="3599761423"/>
                    </a:ext>
                  </a:extLst>
                </a:gridCol>
                <a:gridCol w="519249">
                  <a:extLst>
                    <a:ext uri="{9D8B030D-6E8A-4147-A177-3AD203B41FA5}">
                      <a16:colId xmlns:a16="http://schemas.microsoft.com/office/drawing/2014/main" val="3147292373"/>
                    </a:ext>
                  </a:extLst>
                </a:gridCol>
              </a:tblGrid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Serum Metabolomics Reveals Reprogramming of Lipid Dysregulation Following Cyclophosphamide-Based Induction Therapy in Lupus Nephritis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 of Proteome Research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10.1021/acs.jproteome.8b00192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27.91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9075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IN" sz="1200" b="1" dirty="0">
                        <a:solidFill>
                          <a:srgbClr val="0070C0"/>
                        </a:solidFill>
                        <a:effectLst/>
                        <a:latin typeface="Arial Rounded MT Bold" panose="020F07040305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Novel fused </a:t>
                      </a:r>
                      <a:r>
                        <a:rPr lang="en-IN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oxazepino</a:t>
                      </a: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-indoles (FOIs) attenuate liver carcinogenesis via IL-6/JAK2/STAT3 signalling blockade as evidenced through data-based mathematical modelling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Life Sciences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10.1016/j.lfs.2018.02.029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5.1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12.50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34968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6,7-dimethoxy-1,2,3,4-tetrahydro-isoquinoline-3-carboxylic acid attenuates colon carcinogenesis via blockade of IL-6 mediated signals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Biomedicine &amp; Pharmacotherapy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10.1016/j.biopha.2018.02.009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5.40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21572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Novel Indole-fused benzo-</a:t>
                      </a:r>
                      <a:r>
                        <a:rPr lang="en-IN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oxazepines</a:t>
                      </a: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(IFBOs) inhibit invasion of hepatocellular carcinoma by targeting IL-6 mediated JAK2/STAT3 oncogenic signals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10.1038/s41598-018-24288-0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18.52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64645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Serum Metabolomics Discriminates Takayasu Arteritis from Healthy Individuals: A Proof-of-Principle Study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Journal of Proteome Research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10.1021/acs.jproteome.5b00422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27.91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57597"/>
                  </a:ext>
                </a:extLst>
              </a:tr>
              <a:tr h="51541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Metabolomics approach discriminates toxicity index of pyrazinamide and its metabolic products, </a:t>
                      </a:r>
                      <a:r>
                        <a:rPr lang="en-IN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pyrazinoic</a:t>
                      </a: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acid and 5-hydroxy </a:t>
                      </a:r>
                      <a:r>
                        <a:rPr lang="en-IN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pyrazinoic</a:t>
                      </a: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acid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Human &amp; Experimental Toxicology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10.1177/0960327117705426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36.79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68383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Ameliorative effects of </a:t>
                      </a:r>
                      <a:r>
                        <a:rPr lang="en-US" altLang="en-US" sz="105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pyrazinoic</a:t>
                      </a: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acid against oxidative and metabolic stress manifested in rats with dimethylhydrazine induced colonic carcinoma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Cancer Biology &amp; Therapy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10.1080/15384047.2017.1310341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24.85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2139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NMR-based urinary profiling of lactulose/mannitol ratio used to assess the altered intestinal permeability in acute on chronic liver failure (ACLF) patients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Magnetic Resonance in Chemistry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10.1002/mrc.4525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Yes/Q3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1.4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69.46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40516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NMR based serum metabolomics reveals a distinctive signature in patients with Lupus Nephritis</a:t>
                      </a:r>
                      <a:endParaRPr lang="en-IN" altLang="en-US" sz="105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Scientific Report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10.1038/srep35309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 /Q1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3.9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18.52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0000"/>
                  </a:ext>
                </a:extLst>
              </a:tr>
              <a:tr h="46552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200" b="1" dirty="0">
                          <a:solidFill>
                            <a:srgbClr val="0070C0"/>
                          </a:solidFill>
                          <a:effectLst/>
                          <a:latin typeface="Arial Rounded MT Bold" panose="020F07040305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Fabrication of Imatinib Mesylate-Loaded Lactoferrin-Modified PEGylated Liquid Crystalline Nanoparticles for Mitochondrial-Dependent Apoptosis in Hepatocellular Carcinoma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altLang="en-US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Molecular Pharmaceutics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10.1021/acs.molpharmaceut.0c01024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Yes/ Q1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4.5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18.18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05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49552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71392CF0-FFEF-DE93-6639-D46F4CA489AD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8208336" cy="611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en-US" sz="1800" b="1" dirty="0">
                <a:solidFill>
                  <a:srgbClr val="FFFF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write All Publications in the order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SCI/SSCI/AHCI Top 10 percentile/Q1,Q2/Q3/Q4, Scopus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1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2259</Words>
  <Application>Microsoft Office PowerPoint</Application>
  <PresentationFormat>Widescreen</PresentationFormat>
  <Paragraphs>519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Dr Umesh Kumar</cp:lastModifiedBy>
  <cp:revision>84</cp:revision>
  <dcterms:created xsi:type="dcterms:W3CDTF">2025-03-18T10:58:32Z</dcterms:created>
  <dcterms:modified xsi:type="dcterms:W3CDTF">2026-07-23T11:11:49Z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A7CC2B040E1242BCA8ECC8C411552075_11</vt:lpwstr>
  </property>
  <property fmtid="{D5CDD505-2E9C-101B-9397-08002B2CF9AE}" pid="3" name="KSOProductBuildVer">
    <vt:lpwstr>1033-12.2.0.20326</vt:lpwstr>
  </property>
</Properties>
</file>